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300" r:id="rId43"/>
    <p:sldId id="301" r:id="rId44"/>
    <p:sldId id="302" r:id="rId45"/>
    <p:sldId id="303" r:id="rId46"/>
    <p:sldId id="304" r:id="rId47"/>
    <p:sldId id="306" r:id="rId48"/>
    <p:sldId id="305" r:id="rId49"/>
    <p:sldId id="307" r:id="rId50"/>
    <p:sldId id="308" r:id="rId51"/>
    <p:sldId id="309" r:id="rId52"/>
    <p:sldId id="321" r:id="rId53"/>
    <p:sldId id="262" r:id="rId54"/>
    <p:sldId id="310" r:id="rId55"/>
    <p:sldId id="322" r:id="rId56"/>
    <p:sldId id="323" r:id="rId57"/>
    <p:sldId id="324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30. Home Page on the Workspace page → Export section, list all history exports of a selected workspace</a:t>
            </a:r>
            <a:endParaRPr dirty="0"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33.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page, list all Stage in a selected board include Card</a:t>
            </a: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27. Slide 34. Select a board → Board page → in a stage, show information of a stage</a:t>
            </a:r>
            <a:endParaRPr dirty="0"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29. Slide 35.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 → in a stage → select a card, show labels of a card</a:t>
            </a: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30. Slide 36. Select a board → Board page → in a stage → select a card, show activities in a specific card</a:t>
            </a:r>
            <a:endParaRPr dirty="0"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31. Slide 37. Select a board → Board page → in a stage → select a card → click on cover, show list of colors with icon can selected</a:t>
            </a:r>
            <a:endParaRPr dirty="0"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32. Slide 38. Select a board → Board page → in a stage → select a card, show list of labels with color that card selected</a:t>
            </a:r>
            <a:endParaRPr dirty="0"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33. Slide 40. Select a board → Board page → in a stage → select a card → checklist section, checklist and its item in a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34. Slide 40.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board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page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stage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 section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members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board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assign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 item</a:t>
            </a:r>
            <a:endParaRPr dirty="0"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35. Slide 42. Select a board → Board page → in a stage → select a card → attachment section, show all attachment have LINK type in a specific card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36. Slide 42. Select a board → Board page → in a stage → select a card → attachment section, show all attachment have FILE type in a specific card 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37. Slide 43. Select a board → Board page → in a stage → select a card → comment section, show all comment in a specific card(123) 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38. Slide 43. Select a board → Board page → in a stage → select a card → comment section, show all reactions in a comment(104) of a specific card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39. Slide 43. Select a board → Board page → in a stage → select a card → comment section → show detail,  show all activities of a specific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40. Slide 45. Select a board → Board page → in a stage → select a card →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section, show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and Selection of a specific card</a:t>
            </a: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41. Slide 45. Select a board → Board page → in a stage → select a card →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section, show all options of a custom field with DROPDOWN type with Id = 13</a:t>
            </a:r>
            <a:endParaRPr dirty="0"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42. Slide 47. Select a board → Board page → Setting section → Click stickers, show list of sticker can select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43. Slide 47. Select a board → Board page → in a stage, show sticker in cover of a card</a:t>
            </a:r>
            <a:endParaRPr dirty="0"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44. Slide 49. Click notification icon, show all notification are unread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45. Slide 49. Click notification icon, show all notification are read</a:t>
            </a:r>
            <a:endParaRPr dirty="0"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46.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52. Click setting of a workspace → click board tab, show board and collection its belong with</a:t>
            </a:r>
            <a:endParaRPr dirty="0"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884358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9966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501053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65</a:t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66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71.jp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7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71.jp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FUNCTIONALITY </a:t>
            </a:r>
            <a:r>
              <a:rPr lang="en-GB" dirty="0"/>
              <a:t>IN THE TRELLO SYSTEM</a:t>
            </a:r>
            <a:endParaRPr dirty="0"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BillingContact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cxnSpLocks/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563420" y="5566463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253520" y="5583713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cxnSpLocks/>
            <a:stCxn id="620" idx="0"/>
            <a:endCxn id="621" idx="3"/>
          </p:cNvCxnSpPr>
          <p:nvPr/>
        </p:nvCxnSpPr>
        <p:spPr>
          <a:xfrm flipH="1" flipV="1">
            <a:off x="2683700" y="2289125"/>
            <a:ext cx="1258550" cy="1475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cxnSpLocks/>
            <a:endCxn id="623" idx="3"/>
          </p:cNvCxnSpPr>
          <p:nvPr/>
        </p:nvCxnSpPr>
        <p:spPr>
          <a:xfrm flipH="1" flipV="1">
            <a:off x="2676150" y="3053700"/>
            <a:ext cx="1076550" cy="823398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>
            <a:cxnSpLocks/>
          </p:cNvCxnSpPr>
          <p:nvPr/>
        </p:nvCxnSpPr>
        <p:spPr>
          <a:xfrm flipH="1" flipV="1">
            <a:off x="2755450" y="3526825"/>
            <a:ext cx="786725" cy="347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" name="Google Shape;618;g36f5cd5a2ba_2_13">
            <a:extLst>
              <a:ext uri="{FF2B5EF4-FFF2-40B4-BE49-F238E27FC236}">
                <a16:creationId xmlns:a16="http://schemas.microsoft.com/office/drawing/2014/main" id="{A3B97356-FCA7-243D-C6A9-02A1F73C89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550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619;g36f5cd5a2ba_2_13">
            <a:extLst>
              <a:ext uri="{FF2B5EF4-FFF2-40B4-BE49-F238E27FC236}">
                <a16:creationId xmlns:a16="http://schemas.microsoft.com/office/drawing/2014/main" id="{7312FC1B-8565-0D37-56D4-1B534D273BF2}"/>
              </a:ext>
            </a:extLst>
          </p:cNvPr>
          <p:cNvSpPr txBox="1"/>
          <p:nvPr/>
        </p:nvSpPr>
        <p:spPr>
          <a:xfrm>
            <a:off x="5104175" y="1584550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Stage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" name="Google Shape;621;g36f5cd5a2ba_2_13">
            <a:extLst>
              <a:ext uri="{FF2B5EF4-FFF2-40B4-BE49-F238E27FC236}">
                <a16:creationId xmlns:a16="http://schemas.microsoft.com/office/drawing/2014/main" id="{21526ACD-A3C3-7693-0E16-2A6611D38D76}"/>
              </a:ext>
            </a:extLst>
          </p:cNvPr>
          <p:cNvSpPr/>
          <p:nvPr/>
        </p:nvSpPr>
        <p:spPr>
          <a:xfrm>
            <a:off x="514100" y="1584550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7" name="Google Shape;623;g36f5cd5a2ba_2_13">
            <a:extLst>
              <a:ext uri="{FF2B5EF4-FFF2-40B4-BE49-F238E27FC236}">
                <a16:creationId xmlns:a16="http://schemas.microsoft.com/office/drawing/2014/main" id="{912E978B-3D93-0077-2B52-EC4570F2967A}"/>
              </a:ext>
            </a:extLst>
          </p:cNvPr>
          <p:cNvSpPr/>
          <p:nvPr/>
        </p:nvSpPr>
        <p:spPr>
          <a:xfrm>
            <a:off x="506550" y="2724425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" name="Google Shape;624;g36f5cd5a2ba_2_13">
            <a:extLst>
              <a:ext uri="{FF2B5EF4-FFF2-40B4-BE49-F238E27FC236}">
                <a16:creationId xmlns:a16="http://schemas.microsoft.com/office/drawing/2014/main" id="{D23F6B6E-015B-518B-598D-92708F46BF3A}"/>
              </a:ext>
            </a:extLst>
          </p:cNvPr>
          <p:cNvCxnSpPr>
            <a:cxnSpLocks/>
            <a:stCxn id="620" idx="0"/>
            <a:endCxn id="7" idx="3"/>
          </p:cNvCxnSpPr>
          <p:nvPr/>
        </p:nvCxnSpPr>
        <p:spPr>
          <a:xfrm flipH="1" flipV="1">
            <a:off x="2676150" y="2878625"/>
            <a:ext cx="1266100" cy="8859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625;g36f5cd5a2ba_2_13">
            <a:extLst>
              <a:ext uri="{FF2B5EF4-FFF2-40B4-BE49-F238E27FC236}">
                <a16:creationId xmlns:a16="http://schemas.microsoft.com/office/drawing/2014/main" id="{D8C0E4C1-9360-4BA2-4254-F0420B28A084}"/>
              </a:ext>
            </a:extLst>
          </p:cNvPr>
          <p:cNvCxnSpPr>
            <a:cxnSpLocks/>
          </p:cNvCxnSpPr>
          <p:nvPr/>
        </p:nvCxnSpPr>
        <p:spPr>
          <a:xfrm flipH="1" flipV="1">
            <a:off x="2755450" y="3351750"/>
            <a:ext cx="837300" cy="522525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26;g36f5cd5a2ba_2_13">
            <a:extLst>
              <a:ext uri="{FF2B5EF4-FFF2-40B4-BE49-F238E27FC236}">
                <a16:creationId xmlns:a16="http://schemas.microsoft.com/office/drawing/2014/main" id="{00FFCDBA-46BB-F0AA-5473-CD27B21C78AB}"/>
              </a:ext>
            </a:extLst>
          </p:cNvPr>
          <p:cNvSpPr/>
          <p:nvPr/>
        </p:nvSpPr>
        <p:spPr>
          <a:xfrm>
            <a:off x="514100" y="3113700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1" name="Google Shape;627;g36f5cd5a2ba_2_13">
            <a:extLst>
              <a:ext uri="{FF2B5EF4-FFF2-40B4-BE49-F238E27FC236}">
                <a16:creationId xmlns:a16="http://schemas.microsoft.com/office/drawing/2014/main" id="{560178FF-7C3E-B834-E2ED-F750B53872F4}"/>
              </a:ext>
            </a:extLst>
          </p:cNvPr>
          <p:cNvCxnSpPr>
            <a:stCxn id="4" idx="1"/>
          </p:cNvCxnSpPr>
          <p:nvPr/>
        </p:nvCxnSpPr>
        <p:spPr>
          <a:xfrm rot="10800000">
            <a:off x="2827475" y="1377400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48998" y="10281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1134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Member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Card Activity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C7FE2C-9C7D-D677-EFEA-52B783026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8" y="1083374"/>
            <a:ext cx="4115374" cy="5534797"/>
          </a:xfrm>
          <a:prstGeom prst="rect">
            <a:avLst/>
          </a:prstGeom>
        </p:spPr>
      </p:pic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7100" y="1097999"/>
            <a:ext cx="4054899" cy="5809147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4733362" y="1602413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258818" y="2460775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04918" y="2151925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6204655" y="2151925"/>
            <a:ext cx="340607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62300" y="3185976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Comment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cxnSpLocks/>
            <a:stCxn id="760" idx="1"/>
          </p:cNvCxnSpPr>
          <p:nvPr/>
        </p:nvCxnSpPr>
        <p:spPr>
          <a:xfrm flipH="1" flipV="1">
            <a:off x="5301055" y="19098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2" y="543546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5" y="529187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B1399F-75D0-046F-FC18-68679320BA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550"/>
            <a:ext cx="11417144" cy="5759450"/>
          </a:xfrm>
          <a:prstGeom prst="rect">
            <a:avLst/>
          </a:prstGeom>
        </p:spPr>
      </p:pic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39800"/>
                </a:solidFill>
              </a:rPr>
              <a:t>Comment</a:t>
            </a:r>
            <a:endParaRPr sz="1800" dirty="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3640424" y="2442749"/>
            <a:ext cx="4310395" cy="32797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flipV="1">
            <a:off x="5280525" y="1759593"/>
            <a:ext cx="2014800" cy="426932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4E70A6-F0C7-069E-F34C-C03569731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098550"/>
            <a:ext cx="11333163" cy="5404129"/>
          </a:xfrm>
          <a:prstGeom prst="rect">
            <a:avLst/>
          </a:prstGeom>
        </p:spPr>
      </p:pic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5" name="Google Shape;275;g36f5cd5a2ba_1_0"/>
          <p:cNvSpPr txBox="1"/>
          <p:nvPr/>
        </p:nvSpPr>
        <p:spPr>
          <a:xfrm>
            <a:off x="7390575" y="3639113"/>
            <a:ext cx="1461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39800"/>
                </a:solidFill>
              </a:rPr>
              <a:t>Card.URL</a:t>
            </a:r>
            <a:endParaRPr sz="1800" dirty="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3762375" y="4762500"/>
            <a:ext cx="3038475" cy="426932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 dirty="0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cxnSpLocks/>
            <a:endCxn id="275" idx="1"/>
          </p:cNvCxnSpPr>
          <p:nvPr/>
        </p:nvCxnSpPr>
        <p:spPr>
          <a:xfrm flipV="1">
            <a:off x="6800850" y="3869931"/>
            <a:ext cx="589725" cy="892569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406507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4A3124E-1ADD-17DB-3288-D593CAE72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402752" cy="6306430"/>
          </a:xfrm>
          <a:prstGeom prst="rect">
            <a:avLst/>
          </a:prstGeom>
        </p:spPr>
      </p:pic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5" name="Google Shape;275;g36f5cd5a2ba_1_0"/>
          <p:cNvSpPr txBox="1"/>
          <p:nvPr/>
        </p:nvSpPr>
        <p:spPr>
          <a:xfrm>
            <a:off x="5666550" y="3692866"/>
            <a:ext cx="981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39800"/>
                </a:solidFill>
              </a:rPr>
              <a:t>Labels</a:t>
            </a:r>
            <a:endParaRPr sz="1800" dirty="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792825" y="4100748"/>
            <a:ext cx="2645826" cy="2204802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 dirty="0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cxnSpLocks/>
            <a:stCxn id="276" idx="3"/>
            <a:endCxn id="275" idx="1"/>
          </p:cNvCxnSpPr>
          <p:nvPr/>
        </p:nvCxnSpPr>
        <p:spPr>
          <a:xfrm flipV="1">
            <a:off x="4438651" y="3923684"/>
            <a:ext cx="1227899" cy="1279465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Google Shape;275;g36f5cd5a2ba_1_0">
            <a:extLst>
              <a:ext uri="{FF2B5EF4-FFF2-40B4-BE49-F238E27FC236}">
                <a16:creationId xmlns:a16="http://schemas.microsoft.com/office/drawing/2014/main" id="{B472C6AD-7BBD-B22A-02F5-7341E94570C8}"/>
              </a:ext>
            </a:extLst>
          </p:cNvPr>
          <p:cNvSpPr txBox="1"/>
          <p:nvPr/>
        </p:nvSpPr>
        <p:spPr>
          <a:xfrm>
            <a:off x="6495225" y="3429000"/>
            <a:ext cx="420135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39800"/>
                </a:solidFill>
              </a:rPr>
              <a:t>Trello create 6 Default Labels for every new Board</a:t>
            </a:r>
            <a:endParaRPr sz="1800" dirty="0">
              <a:solidFill>
                <a:srgbClr val="F398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3723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7381E8-3C71-06F5-DCAB-B9260A734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48" y="1098550"/>
            <a:ext cx="10083601" cy="5724883"/>
          </a:xfrm>
          <a:prstGeom prst="rect">
            <a:avLst/>
          </a:prstGeom>
        </p:spPr>
      </p:pic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5" name="Google Shape;275;g36f5cd5a2ba_1_0"/>
          <p:cNvSpPr txBox="1"/>
          <p:nvPr/>
        </p:nvSpPr>
        <p:spPr>
          <a:xfrm>
            <a:off x="6504749" y="4264366"/>
            <a:ext cx="364724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dirty="0">
                <a:solidFill>
                  <a:srgbClr val="F39800"/>
                </a:solidFill>
              </a:rPr>
              <a:t>CustomField.IsFrontCardShowed</a:t>
            </a:r>
          </a:p>
        </p:txBody>
      </p:sp>
      <p:sp>
        <p:nvSpPr>
          <p:cNvPr id="276" name="Google Shape;276;g36f5cd5a2ba_1_0"/>
          <p:cNvSpPr/>
          <p:nvPr/>
        </p:nvSpPr>
        <p:spPr>
          <a:xfrm>
            <a:off x="1533525" y="6010276"/>
            <a:ext cx="2438400" cy="295274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 dirty="0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cxnSpLocks/>
            <a:stCxn id="276" idx="3"/>
            <a:endCxn id="275" idx="1"/>
          </p:cNvCxnSpPr>
          <p:nvPr/>
        </p:nvCxnSpPr>
        <p:spPr>
          <a:xfrm flipV="1">
            <a:off x="3971925" y="4495184"/>
            <a:ext cx="2532824" cy="1662729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94285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2325</TotalTime>
  <Words>2358</Words>
  <Application>Microsoft Office PowerPoint</Application>
  <PresentationFormat>Widescreen</PresentationFormat>
  <Paragraphs>367</Paragraphs>
  <Slides>67</Slides>
  <Notes>67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1" baseType="lpstr">
      <vt:lpstr>Arial</vt:lpstr>
      <vt:lpstr>Calibri</vt:lpstr>
      <vt:lpstr>Cascadia Mono</vt:lpstr>
      <vt:lpstr>bbv template EN</vt:lpstr>
      <vt:lpstr>PowerPoint Presentation</vt:lpstr>
      <vt:lpstr>FUNCTIONALITY IN THE TRELLO SYSTEM</vt:lpstr>
      <vt:lpstr>Agenda</vt:lpstr>
      <vt:lpstr>BOARDS TAB IN TRELLO SYSTEM</vt:lpstr>
      <vt:lpstr>TEMPLATE TAB IN TRELLO SYSTEM</vt:lpstr>
      <vt:lpstr>TEMPLATE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NOTIFICATION IN TRELLO SYSTEM</vt:lpstr>
      <vt:lpstr>HOME TAB IN TRELLO SYSTEM</vt:lpstr>
      <vt:lpstr>ACTIVITY, NOTIFICATION RELATIONSHIP</vt:lpstr>
      <vt:lpstr>COLLECTION IN TRELLO SYSTEM</vt:lpstr>
      <vt:lpstr>COLLECTION, BOARD, BOARDCOLLECTION RELATIONSHIP</vt:lpstr>
      <vt:lpstr>HOME TAB IN TRELLO SYSTEM</vt:lpstr>
      <vt:lpstr>CREATE WORKSPACE IN TRELLO SYSTEM</vt:lpstr>
      <vt:lpstr>Q&amp;A</vt:lpstr>
      <vt:lpstr>CREATE WORKSPACE IN TRELLO SYSTEM</vt:lpstr>
      <vt:lpstr>CREATE WORKSPACE IN TRELLO SYSTEM</vt:lpstr>
      <vt:lpstr>CREATE WORKSPACE IN TRELLO SYSTEM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73</cp:revision>
  <dcterms:created xsi:type="dcterms:W3CDTF">2025-07-10T03:51:23Z</dcterms:created>
  <dcterms:modified xsi:type="dcterms:W3CDTF">2025-07-31T16:48:36Z</dcterms:modified>
</cp:coreProperties>
</file>